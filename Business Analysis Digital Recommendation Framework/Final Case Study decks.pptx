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FF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3851D-FBF3-7ED8-922E-AC9CF7E4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8D8F5-44E1-C9BE-E528-9729F4074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7C769-95C7-5E4A-B677-7E8019AC3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3702D-25CA-45EC-08BC-7D8A8FE6B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31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CC619-A93E-F8CB-49E7-883B9221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69910-61E4-9E2E-4BDD-50745D606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EBAC4-4443-6BFC-2325-D5A0022AE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7125D-2681-94ED-3AB5-49A523405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24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DF6E-22B0-F4FF-DC6D-D77A039E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B48C1-456A-CFC1-FE00-501D221B5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915E2-0352-3768-1AB1-F830C5634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0FAF5-0F53-AA97-412B-751FE7A6F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42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8D8F0-592F-071F-7499-D17D64AD1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E31A8-3654-E659-0A69-9C0D60EE6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B3E7D-90A4-5B09-16C8-E97BA9425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EE3FA-151A-D9C8-5E7D-F05971BB6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09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5EA5-57DA-10E7-84DE-A809529B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B9B20-4298-946D-10E1-1D4092850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53DF1-0E54-7FB0-60E8-222AB3FC5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25496-ECDE-4FA6-A3B0-302739AE5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93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22BE-F0C4-08DC-C807-A5128D2DE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FE806-895C-0059-F1BF-AB80EE474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6E764-96E8-A461-1934-C6AA23BCD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84979-F002-8CAE-9CEF-FE956AE3C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AADC4-A192-648C-5E03-88AAF17C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D9306-4C3F-BF22-CA02-0D3870421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11968-1BF7-1840-20A9-5FAF1E2FA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A3546-8B3C-9501-8549-74DFF0724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05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24BA2-5AA2-8840-3066-6C737C674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634AC-02FB-1E1F-74D4-249353E07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ED899-A0A3-1B52-66BE-4ACE7C7FA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4F925-8E66-7BAA-5710-398F43AC3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58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5.wdp"/><Relationship Id="rId18" Type="http://schemas.openxmlformats.org/officeDocument/2006/relationships/image" Target="../media/image10.png"/><Relationship Id="rId3" Type="http://schemas.openxmlformats.org/officeDocument/2006/relationships/image" Target="../media/image1.png"/><Relationship Id="rId21" Type="http://schemas.microsoft.com/office/2007/relationships/hdphoto" Target="../media/hdphoto9.wdp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17" Type="http://schemas.microsoft.com/office/2007/relationships/hdphoto" Target="../media/hdphoto7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24" Type="http://schemas.microsoft.com/office/2007/relationships/hdphoto" Target="../media/hdphoto10.wdp"/><Relationship Id="rId5" Type="http://schemas.microsoft.com/office/2007/relationships/hdphoto" Target="../media/hdphoto1.wdp"/><Relationship Id="rId15" Type="http://schemas.microsoft.com/office/2007/relationships/hdphoto" Target="../media/hdphoto6.wdp"/><Relationship Id="rId23" Type="http://schemas.openxmlformats.org/officeDocument/2006/relationships/image" Target="../media/image13.png"/><Relationship Id="rId10" Type="http://schemas.openxmlformats.org/officeDocument/2006/relationships/image" Target="../media/image6.png"/><Relationship Id="rId19" Type="http://schemas.microsoft.com/office/2007/relationships/hdphoto" Target="../media/hdphoto8.wdp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microsoft.com/office/2007/relationships/hdphoto" Target="../media/hdphoto12.wdp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microsoft.com/office/2007/relationships/hdphoto" Target="../media/hdphoto14.wdp"/><Relationship Id="rId5" Type="http://schemas.microsoft.com/office/2007/relationships/hdphoto" Target="../media/hdphoto11.wdp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microsoft.com/office/2007/relationships/hdphoto" Target="../media/hdphoto13.wdp"/><Relationship Id="rId14" Type="http://schemas.microsoft.com/office/2007/relationships/hdphoto" Target="../media/hdphoto15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microsoft.com/office/2007/relationships/hdphoto" Target="../media/hdphoto20.wdp"/><Relationship Id="rId1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microsoft.com/office/2007/relationships/hdphoto" Target="../media/hdphoto17.wdp"/><Relationship Id="rId12" Type="http://schemas.openxmlformats.org/officeDocument/2006/relationships/image" Target="../media/image25.png"/><Relationship Id="rId17" Type="http://schemas.microsoft.com/office/2007/relationships/hdphoto" Target="../media/hdphoto22.wdp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microsoft.com/office/2007/relationships/hdphoto" Target="../media/hdphoto19.wdp"/><Relationship Id="rId5" Type="http://schemas.microsoft.com/office/2007/relationships/hdphoto" Target="../media/hdphoto16.wdp"/><Relationship Id="rId15" Type="http://schemas.microsoft.com/office/2007/relationships/hdphoto" Target="../media/hdphoto21.wdp"/><Relationship Id="rId10" Type="http://schemas.openxmlformats.org/officeDocument/2006/relationships/image" Target="../media/image24.png"/><Relationship Id="rId19" Type="http://schemas.microsoft.com/office/2007/relationships/hdphoto" Target="../media/hdphoto23.wdp"/><Relationship Id="rId4" Type="http://schemas.openxmlformats.org/officeDocument/2006/relationships/image" Target="../media/image21.png"/><Relationship Id="rId9" Type="http://schemas.microsoft.com/office/2007/relationships/hdphoto" Target="../media/hdphoto18.wdp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DE56B-39BA-6CF6-C3F1-2EEEA1D35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4/gradient_bg.png">
            <a:extLst>
              <a:ext uri="{FF2B5EF4-FFF2-40B4-BE49-F238E27FC236}">
                <a16:creationId xmlns:a16="http://schemas.microsoft.com/office/drawing/2014/main" id="{C1775B36-559F-45F1-F4AD-59D886D658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9C9BD47-E7E5-EE7B-344D-842B46ECC665}"/>
              </a:ext>
            </a:extLst>
          </p:cNvPr>
          <p:cNvSpPr/>
          <p:nvPr/>
        </p:nvSpPr>
        <p:spPr>
          <a:xfrm>
            <a:off x="548640" y="2046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CASE STUDY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9CF43F4-E102-9BF8-1C9A-F183996857A4}"/>
              </a:ext>
            </a:extLst>
          </p:cNvPr>
          <p:cNvSpPr/>
          <p:nvPr/>
        </p:nvSpPr>
        <p:spPr>
          <a:xfrm>
            <a:off x="502920" y="745236"/>
            <a:ext cx="7231380" cy="594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CROSS - SELLING DIGITAL RECOMMENDATION FRAMEWORK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8FA7AFA-F9D7-D336-471F-B98D76E6659F}"/>
              </a:ext>
            </a:extLst>
          </p:cNvPr>
          <p:cNvSpPr/>
          <p:nvPr/>
        </p:nvSpPr>
        <p:spPr>
          <a:xfrm>
            <a:off x="2628900" y="336042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EC79938-E2C0-6A78-EFA0-28B0FEFF6068}"/>
              </a:ext>
            </a:extLst>
          </p:cNvPr>
          <p:cNvSpPr/>
          <p:nvPr/>
        </p:nvSpPr>
        <p:spPr>
          <a:xfrm>
            <a:off x="502920" y="2064339"/>
            <a:ext cx="5970203" cy="10404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8000"/>
              </a:lnSpc>
            </a:pPr>
            <a:r>
              <a:rPr lang="en-US" dirty="0">
                <a:solidFill>
                  <a:schemeClr val="bg1"/>
                </a:solidFill>
              </a:rPr>
              <a:t>Introducing an incremental digital recommendation pathway within an existing banking cross-selling process</a:t>
            </a:r>
            <a:r>
              <a:rPr lang="en-US" dirty="0"/>
              <a:t>.</a:t>
            </a:r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D4B31E9-70AC-271E-A204-4B978B462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137" y="1339278"/>
            <a:ext cx="5506946" cy="5506946"/>
          </a:xfrm>
          <a:prstGeom prst="rect">
            <a:avLst/>
          </a:prstGeom>
        </p:spPr>
      </p:pic>
      <p:sp>
        <p:nvSpPr>
          <p:cNvPr id="32" name="Shape 17">
            <a:extLst>
              <a:ext uri="{FF2B5EF4-FFF2-40B4-BE49-F238E27FC236}">
                <a16:creationId xmlns:a16="http://schemas.microsoft.com/office/drawing/2014/main" id="{9627D017-AFA3-3B6A-EFBC-C740E052D56A}"/>
              </a:ext>
            </a:extLst>
          </p:cNvPr>
          <p:cNvSpPr/>
          <p:nvPr/>
        </p:nvSpPr>
        <p:spPr>
          <a:xfrm>
            <a:off x="586740" y="1480728"/>
            <a:ext cx="2042160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DE765E13-9E7E-65CA-B450-D4122E67BE99}"/>
              </a:ext>
            </a:extLst>
          </p:cNvPr>
          <p:cNvSpPr/>
          <p:nvPr/>
        </p:nvSpPr>
        <p:spPr>
          <a:xfrm>
            <a:off x="336109" y="4857062"/>
            <a:ext cx="4477191" cy="10404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8000"/>
              </a:lnSpc>
            </a:pPr>
            <a:r>
              <a:rPr lang="en-US" sz="1600" b="1" dirty="0">
                <a:solidFill>
                  <a:srgbClr val="C8FF3D"/>
                </a:solidFill>
              </a:rPr>
              <a:t>Focus: </a:t>
            </a:r>
            <a:r>
              <a:rPr lang="en-US" sz="1600" dirty="0">
                <a:solidFill>
                  <a:schemeClr val="bg1"/>
                </a:solidFill>
              </a:rPr>
              <a:t>Cross-selling × Digital Customer Engagement</a:t>
            </a:r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7773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4/gradient_b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46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CASE STUDY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583629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kern="0" spc="-3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 </a:t>
            </a:r>
            <a:r>
              <a:rPr lang="en-US" sz="2200" kern="0" spc="-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Eligibility Does Not Automatically Determine the Right Engagement Strategy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02920" y="1544233"/>
            <a:ext cx="4526280" cy="3823295"/>
          </a:xfrm>
          <a:prstGeom prst="roundRect">
            <a:avLst>
              <a:gd name="adj" fmla="val 3145"/>
            </a:avLst>
          </a:prstGeom>
          <a:ln w="19050">
            <a:solidFill>
              <a:srgbClr val="C8FF3D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685800" y="1728140"/>
            <a:ext cx="4160520" cy="656428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47217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Product Eligibility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94956" y="2430433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4380" y="2673220"/>
            <a:ext cx="4160520" cy="621807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275234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Customer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28900" y="336042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5374" y="3592474"/>
            <a:ext cx="4160520" cy="678858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28254" y="371849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Cross-Selling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594956" y="4148120"/>
            <a:ext cx="27432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4583084"/>
            <a:ext cx="4160520" cy="656428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8680" y="4686577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Communication Channels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 rot="16200000">
            <a:off x="5283119" y="1854271"/>
            <a:ext cx="402336" cy="1413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27709" y="5821322"/>
            <a:ext cx="13060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process identifies customers eligible for a product, but does not specifically identify digitally active customers who may be suitable for personalized in-app product recommendations.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035594" y="2270558"/>
            <a:ext cx="4663440" cy="2944353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25154" y="3411128"/>
            <a:ext cx="2042160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0834" y="2708924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Opportunity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754" y="3622179"/>
            <a:ext cx="452628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digital recommendation pathway without disrupting the existing cross-selling or product application process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DC932-3844-7E2B-9AE7-908D3918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4/gradient_bg.png">
            <a:extLst>
              <a:ext uri="{FF2B5EF4-FFF2-40B4-BE49-F238E27FC236}">
                <a16:creationId xmlns:a16="http://schemas.microsoft.com/office/drawing/2014/main" id="{AE7C935D-72F6-E34C-1EAC-7D949EFE2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75" y="-3715"/>
            <a:ext cx="12188952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B35A7CA-B4CB-75DA-B527-DE4F2E3ECC98}"/>
              </a:ext>
            </a:extLst>
          </p:cNvPr>
          <p:cNvSpPr/>
          <p:nvPr/>
        </p:nvSpPr>
        <p:spPr>
          <a:xfrm>
            <a:off x="422621" y="426281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CASE STUDY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AEA3B44-DBD3-9D42-A09A-61301AE316DA}"/>
              </a:ext>
            </a:extLst>
          </p:cNvPr>
          <p:cNvSpPr/>
          <p:nvPr/>
        </p:nvSpPr>
        <p:spPr>
          <a:xfrm>
            <a:off x="377698" y="1040818"/>
            <a:ext cx="10503381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Understanding the Existing Cross-Selling Process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EBC9EB2-9709-399D-1204-26A5DFC50015}"/>
              </a:ext>
            </a:extLst>
          </p:cNvPr>
          <p:cNvSpPr/>
          <p:nvPr/>
        </p:nvSpPr>
        <p:spPr>
          <a:xfrm>
            <a:off x="44594" y="2231695"/>
            <a:ext cx="1039438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7A5142C-CBD6-C026-5C49-C404A9BFD29C}"/>
              </a:ext>
            </a:extLst>
          </p:cNvPr>
          <p:cNvSpPr/>
          <p:nvPr/>
        </p:nvSpPr>
        <p:spPr>
          <a:xfrm>
            <a:off x="868680" y="4686577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89DD0FF-E456-3BF5-9BF1-ADEFFA76C309}"/>
              </a:ext>
            </a:extLst>
          </p:cNvPr>
          <p:cNvSpPr/>
          <p:nvPr/>
        </p:nvSpPr>
        <p:spPr>
          <a:xfrm>
            <a:off x="0" y="5485538"/>
            <a:ext cx="12107289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8000"/>
              </a:lnSpc>
            </a:pPr>
            <a:r>
              <a:rPr lang="en-US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process supports cross-selling through established campaign planning, communication, customer response, application, and performance review activities.</a:t>
            </a:r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AF439C73-BC4D-CF38-68AA-36AF9751D5CE}"/>
              </a:ext>
            </a:extLst>
          </p:cNvPr>
          <p:cNvSpPr/>
          <p:nvPr/>
        </p:nvSpPr>
        <p:spPr>
          <a:xfrm>
            <a:off x="78628" y="3754547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068EADFB-A3F4-380E-DB49-1A7EDC8CE116}"/>
              </a:ext>
            </a:extLst>
          </p:cNvPr>
          <p:cNvSpPr/>
          <p:nvPr/>
        </p:nvSpPr>
        <p:spPr>
          <a:xfrm>
            <a:off x="1195422" y="2234089"/>
            <a:ext cx="1036342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DC030873-DA84-7D93-C4AA-321324FBACA0}"/>
              </a:ext>
            </a:extLst>
          </p:cNvPr>
          <p:cNvSpPr/>
          <p:nvPr/>
        </p:nvSpPr>
        <p:spPr>
          <a:xfrm>
            <a:off x="2334223" y="2249652"/>
            <a:ext cx="1136083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B464606C-011E-2106-F9ED-8F0531A83358}"/>
              </a:ext>
            </a:extLst>
          </p:cNvPr>
          <p:cNvSpPr/>
          <p:nvPr/>
        </p:nvSpPr>
        <p:spPr>
          <a:xfrm>
            <a:off x="3660846" y="2242977"/>
            <a:ext cx="1010323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A0AED8E3-950F-ACB2-4BB6-DEAF753CD59D}"/>
              </a:ext>
            </a:extLst>
          </p:cNvPr>
          <p:cNvSpPr/>
          <p:nvPr/>
        </p:nvSpPr>
        <p:spPr>
          <a:xfrm>
            <a:off x="4791939" y="2242976"/>
            <a:ext cx="1100600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345646CA-24B0-F53B-5988-2BCB137359E9}"/>
              </a:ext>
            </a:extLst>
          </p:cNvPr>
          <p:cNvSpPr/>
          <p:nvPr/>
        </p:nvSpPr>
        <p:spPr>
          <a:xfrm>
            <a:off x="6016649" y="2257089"/>
            <a:ext cx="1136083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DB730D9E-CF2A-9D11-3B76-C6E38198ED02}"/>
              </a:ext>
            </a:extLst>
          </p:cNvPr>
          <p:cNvSpPr/>
          <p:nvPr/>
        </p:nvSpPr>
        <p:spPr>
          <a:xfrm>
            <a:off x="7244544" y="2263687"/>
            <a:ext cx="1136083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F0FB2F47-74DA-3639-0CEE-B643D0A07B89}"/>
              </a:ext>
            </a:extLst>
          </p:cNvPr>
          <p:cNvSpPr/>
          <p:nvPr/>
        </p:nvSpPr>
        <p:spPr>
          <a:xfrm>
            <a:off x="8472439" y="2257089"/>
            <a:ext cx="1136083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F7882C2D-0135-8C98-63C8-D70A2F4AB237}"/>
              </a:ext>
            </a:extLst>
          </p:cNvPr>
          <p:cNvSpPr/>
          <p:nvPr/>
        </p:nvSpPr>
        <p:spPr>
          <a:xfrm>
            <a:off x="9764691" y="2257089"/>
            <a:ext cx="1136083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89A01A1E-B7FC-6739-1D47-7202E16C7BE0}"/>
              </a:ext>
            </a:extLst>
          </p:cNvPr>
          <p:cNvSpPr/>
          <p:nvPr/>
        </p:nvSpPr>
        <p:spPr>
          <a:xfrm>
            <a:off x="10991473" y="2248207"/>
            <a:ext cx="1136083" cy="2411709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9F06B58C-F0A4-5E7A-24BC-71940A4F29D5}"/>
              </a:ext>
            </a:extLst>
          </p:cNvPr>
          <p:cNvSpPr/>
          <p:nvPr/>
        </p:nvSpPr>
        <p:spPr>
          <a:xfrm>
            <a:off x="1203723" y="3812670"/>
            <a:ext cx="101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40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D0B884F9-954D-184B-36CD-822A47C36EF8}"/>
              </a:ext>
            </a:extLst>
          </p:cNvPr>
          <p:cNvSpPr/>
          <p:nvPr/>
        </p:nvSpPr>
        <p:spPr>
          <a:xfrm>
            <a:off x="2261531" y="3822445"/>
            <a:ext cx="13923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4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E74A819-A8D3-8067-DF5D-CD2058A3C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23554" y="2662199"/>
            <a:ext cx="1589128" cy="1430135"/>
          </a:xfrm>
          <a:prstGeom prst="rect">
            <a:avLst/>
          </a:prstGeom>
        </p:spPr>
      </p:pic>
      <p:sp>
        <p:nvSpPr>
          <p:cNvPr id="73" name="Text 10">
            <a:extLst>
              <a:ext uri="{FF2B5EF4-FFF2-40B4-BE49-F238E27FC236}">
                <a16:creationId xmlns:a16="http://schemas.microsoft.com/office/drawing/2014/main" id="{A77952D6-9138-C2A6-1391-6A1A7737019C}"/>
              </a:ext>
            </a:extLst>
          </p:cNvPr>
          <p:cNvSpPr/>
          <p:nvPr/>
        </p:nvSpPr>
        <p:spPr>
          <a:xfrm>
            <a:off x="3677680" y="3953386"/>
            <a:ext cx="101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Customer</a:t>
            </a:r>
            <a:endParaRPr lang="en-US" sz="140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96337D14-6815-0A45-0DC1-EE7994658A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214" y="2756487"/>
            <a:ext cx="1286216" cy="1286216"/>
          </a:xfrm>
          <a:prstGeom prst="rect">
            <a:avLst/>
          </a:prstGeom>
        </p:spPr>
      </p:pic>
      <p:sp>
        <p:nvSpPr>
          <p:cNvPr id="77" name="Text 10">
            <a:extLst>
              <a:ext uri="{FF2B5EF4-FFF2-40B4-BE49-F238E27FC236}">
                <a16:creationId xmlns:a16="http://schemas.microsoft.com/office/drawing/2014/main" id="{3E793ABE-4E7F-001B-DFBD-026FF0A09454}"/>
              </a:ext>
            </a:extLst>
          </p:cNvPr>
          <p:cNvSpPr/>
          <p:nvPr/>
        </p:nvSpPr>
        <p:spPr>
          <a:xfrm>
            <a:off x="4792008" y="3938195"/>
            <a:ext cx="101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Planning</a:t>
            </a:r>
            <a:endParaRPr lang="en-US" sz="1400" dirty="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9E756738-FDB5-CDD2-A732-466F9D089C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6324" y="2527809"/>
            <a:ext cx="2609104" cy="1630078"/>
          </a:xfrm>
          <a:prstGeom prst="rect">
            <a:avLst/>
          </a:prstGeom>
        </p:spPr>
      </p:pic>
      <p:sp>
        <p:nvSpPr>
          <p:cNvPr id="80" name="Text 10">
            <a:extLst>
              <a:ext uri="{FF2B5EF4-FFF2-40B4-BE49-F238E27FC236}">
                <a16:creationId xmlns:a16="http://schemas.microsoft.com/office/drawing/2014/main" id="{9280B5D8-FE79-CFBE-9C49-00B26329A758}"/>
              </a:ext>
            </a:extLst>
          </p:cNvPr>
          <p:cNvSpPr/>
          <p:nvPr/>
        </p:nvSpPr>
        <p:spPr>
          <a:xfrm>
            <a:off x="6150572" y="3938055"/>
            <a:ext cx="101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400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74D91589-8C0F-91EB-1783-22F45398BB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1857" y="2747124"/>
            <a:ext cx="1246537" cy="1246537"/>
          </a:xfrm>
          <a:prstGeom prst="rect">
            <a:avLst/>
          </a:prstGeom>
        </p:spPr>
      </p:pic>
      <p:sp>
        <p:nvSpPr>
          <p:cNvPr id="86" name="Text 10">
            <a:extLst>
              <a:ext uri="{FF2B5EF4-FFF2-40B4-BE49-F238E27FC236}">
                <a16:creationId xmlns:a16="http://schemas.microsoft.com/office/drawing/2014/main" id="{537FF2C5-40F5-779B-31F7-C84B57E0C07E}"/>
              </a:ext>
            </a:extLst>
          </p:cNvPr>
          <p:cNvSpPr/>
          <p:nvPr/>
        </p:nvSpPr>
        <p:spPr>
          <a:xfrm>
            <a:off x="7301402" y="3993661"/>
            <a:ext cx="101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744468BD-4587-BB40-6A18-F5FF4AFFBD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65901" y="2758236"/>
            <a:ext cx="2053029" cy="1334098"/>
          </a:xfrm>
          <a:prstGeom prst="rect">
            <a:avLst/>
          </a:prstGeom>
        </p:spPr>
      </p:pic>
      <p:sp>
        <p:nvSpPr>
          <p:cNvPr id="89" name="Text 10">
            <a:extLst>
              <a:ext uri="{FF2B5EF4-FFF2-40B4-BE49-F238E27FC236}">
                <a16:creationId xmlns:a16="http://schemas.microsoft.com/office/drawing/2014/main" id="{F63EB3E3-FB70-C27A-127F-69DBAA1D9947}"/>
              </a:ext>
            </a:extLst>
          </p:cNvPr>
          <p:cNvSpPr/>
          <p:nvPr/>
        </p:nvSpPr>
        <p:spPr>
          <a:xfrm>
            <a:off x="8572285" y="4025277"/>
            <a:ext cx="101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Response</a:t>
            </a:r>
            <a:endParaRPr lang="en-US" sz="1400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D25DA6A5-C118-5AC2-5E0B-5A8C656E3E2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89382" y="2884304"/>
            <a:ext cx="1125984" cy="1125984"/>
          </a:xfrm>
          <a:prstGeom prst="rect">
            <a:avLst/>
          </a:prstGeom>
        </p:spPr>
      </p:pic>
      <p:sp>
        <p:nvSpPr>
          <p:cNvPr id="92" name="Text 10">
            <a:extLst>
              <a:ext uri="{FF2B5EF4-FFF2-40B4-BE49-F238E27FC236}">
                <a16:creationId xmlns:a16="http://schemas.microsoft.com/office/drawing/2014/main" id="{2124E256-F3D4-97F2-C46A-B703B18CE806}"/>
              </a:ext>
            </a:extLst>
          </p:cNvPr>
          <p:cNvSpPr/>
          <p:nvPr/>
        </p:nvSpPr>
        <p:spPr>
          <a:xfrm>
            <a:off x="9839322" y="3974200"/>
            <a:ext cx="12126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55AC50E-44CF-53BF-F5F8-A1297F43D4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1413" y="2687601"/>
            <a:ext cx="1637783" cy="1972315"/>
          </a:xfrm>
          <a:prstGeom prst="rect">
            <a:avLst/>
          </a:prstGeom>
        </p:spPr>
      </p:pic>
      <p:sp>
        <p:nvSpPr>
          <p:cNvPr id="95" name="Text 10">
            <a:extLst>
              <a:ext uri="{FF2B5EF4-FFF2-40B4-BE49-F238E27FC236}">
                <a16:creationId xmlns:a16="http://schemas.microsoft.com/office/drawing/2014/main" id="{0B3730D6-9CFB-42D3-6AAB-AAF4C79FD77E}"/>
              </a:ext>
            </a:extLst>
          </p:cNvPr>
          <p:cNvSpPr/>
          <p:nvPr/>
        </p:nvSpPr>
        <p:spPr>
          <a:xfrm>
            <a:off x="10955956" y="3968242"/>
            <a:ext cx="11513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</a:t>
            </a:r>
            <a:endParaRPr lang="en-US" sz="1400" dirty="0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369FF608-E80F-1F4C-535E-DAF8F4246D7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8448" y="2391995"/>
            <a:ext cx="1951356" cy="183863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7FF1E4E2-5332-4EDF-EB18-DDD43557517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908" y="2875263"/>
            <a:ext cx="967334" cy="96733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0E4D33AC-F114-1F6F-16E0-44664E30E9E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27969" y="2856343"/>
            <a:ext cx="966102" cy="966102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9113234B-C1B4-03B3-E30A-56BF6B374533}"/>
              </a:ext>
            </a:extLst>
          </p:cNvPr>
          <p:cNvSpPr txBox="1"/>
          <p:nvPr/>
        </p:nvSpPr>
        <p:spPr>
          <a:xfrm>
            <a:off x="344675" y="22046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/>
              <a:t>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1408F30-D8A8-5361-FCE0-1C7D08C2E16D}"/>
              </a:ext>
            </a:extLst>
          </p:cNvPr>
          <p:cNvSpPr txBox="1"/>
          <p:nvPr/>
        </p:nvSpPr>
        <p:spPr>
          <a:xfrm>
            <a:off x="1496577" y="2234089"/>
            <a:ext cx="43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F18DD3-BB94-6B0E-D457-B1567EB4A7F5}"/>
              </a:ext>
            </a:extLst>
          </p:cNvPr>
          <p:cNvSpPr txBox="1"/>
          <p:nvPr/>
        </p:nvSpPr>
        <p:spPr>
          <a:xfrm>
            <a:off x="2634176" y="2234089"/>
            <a:ext cx="43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3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2C3B2A7-D6D0-EFD7-72E5-79DA3A17EB8B}"/>
              </a:ext>
            </a:extLst>
          </p:cNvPr>
          <p:cNvSpPr txBox="1"/>
          <p:nvPr/>
        </p:nvSpPr>
        <p:spPr>
          <a:xfrm>
            <a:off x="3924126" y="2275258"/>
            <a:ext cx="43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4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FF52455-0381-2049-197A-2AD03C6A1CF0}"/>
              </a:ext>
            </a:extLst>
          </p:cNvPr>
          <p:cNvSpPr txBox="1"/>
          <p:nvPr/>
        </p:nvSpPr>
        <p:spPr>
          <a:xfrm>
            <a:off x="5078040" y="2263687"/>
            <a:ext cx="43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69F411A-43FC-8DA2-D659-9BF023A6E85C}"/>
              </a:ext>
            </a:extLst>
          </p:cNvPr>
          <p:cNvSpPr txBox="1"/>
          <p:nvPr/>
        </p:nvSpPr>
        <p:spPr>
          <a:xfrm>
            <a:off x="6314197" y="2265470"/>
            <a:ext cx="43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6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24529F5-B572-5C1D-A0C2-028F08D4686D}"/>
              </a:ext>
            </a:extLst>
          </p:cNvPr>
          <p:cNvSpPr txBox="1"/>
          <p:nvPr/>
        </p:nvSpPr>
        <p:spPr>
          <a:xfrm>
            <a:off x="7598711" y="2283056"/>
            <a:ext cx="43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7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5862A0D-EEC4-39BA-8B06-0D614F427330}"/>
              </a:ext>
            </a:extLst>
          </p:cNvPr>
          <p:cNvSpPr txBox="1"/>
          <p:nvPr/>
        </p:nvSpPr>
        <p:spPr>
          <a:xfrm>
            <a:off x="8762561" y="2281248"/>
            <a:ext cx="43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8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3DC8706-6D3A-13E9-5ECC-9B33F8194936}"/>
              </a:ext>
            </a:extLst>
          </p:cNvPr>
          <p:cNvSpPr txBox="1"/>
          <p:nvPr/>
        </p:nvSpPr>
        <p:spPr>
          <a:xfrm>
            <a:off x="10109703" y="2249652"/>
            <a:ext cx="439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9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AD022C4-7E9C-5E3E-E8FB-68B0452C00FC}"/>
              </a:ext>
            </a:extLst>
          </p:cNvPr>
          <p:cNvSpPr txBox="1"/>
          <p:nvPr/>
        </p:nvSpPr>
        <p:spPr>
          <a:xfrm>
            <a:off x="11207528" y="2281248"/>
            <a:ext cx="703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10 </a:t>
            </a: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13E5C418-8362-8350-C498-195DCA23C1D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384" y="2641873"/>
            <a:ext cx="1275806" cy="13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9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6F08-8024-6CF4-933B-581F63962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4/gradient_bg.png">
            <a:extLst>
              <a:ext uri="{FF2B5EF4-FFF2-40B4-BE49-F238E27FC236}">
                <a16:creationId xmlns:a16="http://schemas.microsoft.com/office/drawing/2014/main" id="{52FCDEB0-D46A-CA15-8AAD-90C0523B0C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64A62E6-55F5-359D-0811-A57C6C31722D}"/>
              </a:ext>
            </a:extLst>
          </p:cNvPr>
          <p:cNvSpPr/>
          <p:nvPr/>
        </p:nvSpPr>
        <p:spPr>
          <a:xfrm>
            <a:off x="548640" y="2046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CASE STUDY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A661490-BB44-8203-BFC9-1ED7B3CC45B8}"/>
              </a:ext>
            </a:extLst>
          </p:cNvPr>
          <p:cNvSpPr/>
          <p:nvPr/>
        </p:nvSpPr>
        <p:spPr>
          <a:xfrm>
            <a:off x="548640" y="583629"/>
            <a:ext cx="10812087" cy="8021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kern="0" spc="-3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Defining Requirements</a:t>
            </a:r>
            <a:br>
              <a:rPr lang="en-US" sz="2200" kern="0" spc="-3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</a:br>
            <a:r>
              <a:rPr lang="en-US" sz="2200" kern="0" spc="-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Started with Elicitation</a:t>
            </a:r>
            <a:endParaRPr lang="en-US" sz="2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949BFA4-9580-6238-AB99-15E011FB1AA7}"/>
              </a:ext>
            </a:extLst>
          </p:cNvPr>
          <p:cNvSpPr/>
          <p:nvPr/>
        </p:nvSpPr>
        <p:spPr>
          <a:xfrm>
            <a:off x="685800" y="1728140"/>
            <a:ext cx="4160520" cy="656428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3D26B79-8FFF-C4C1-672B-E7B1E0D16B3C}"/>
              </a:ext>
            </a:extLst>
          </p:cNvPr>
          <p:cNvSpPr/>
          <p:nvPr/>
        </p:nvSpPr>
        <p:spPr>
          <a:xfrm>
            <a:off x="822960" y="1847217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Stakeholders / SMEs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0D396AF-0EC5-F9A0-DA41-B73A9D710447}"/>
              </a:ext>
            </a:extLst>
          </p:cNvPr>
          <p:cNvSpPr/>
          <p:nvPr/>
        </p:nvSpPr>
        <p:spPr>
          <a:xfrm>
            <a:off x="2594956" y="237434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833803C-23CA-52EB-A392-1FB05650C52A}"/>
              </a:ext>
            </a:extLst>
          </p:cNvPr>
          <p:cNvSpPr/>
          <p:nvPr/>
        </p:nvSpPr>
        <p:spPr>
          <a:xfrm>
            <a:off x="685800" y="2618287"/>
            <a:ext cx="4160520" cy="621807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9C343DF-1D0B-13E4-85C0-8AAB5ACB0041}"/>
              </a:ext>
            </a:extLst>
          </p:cNvPr>
          <p:cNvSpPr/>
          <p:nvPr/>
        </p:nvSpPr>
        <p:spPr>
          <a:xfrm>
            <a:off x="868680" y="2683685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Questions &amp; Clarifications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85B2482-0B76-5308-4555-274EF628232C}"/>
              </a:ext>
            </a:extLst>
          </p:cNvPr>
          <p:cNvSpPr/>
          <p:nvPr/>
        </p:nvSpPr>
        <p:spPr>
          <a:xfrm>
            <a:off x="2596341" y="3236069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24A2544-99CA-D24C-1BBF-1861C12DCD6F}"/>
              </a:ext>
            </a:extLst>
          </p:cNvPr>
          <p:cNvSpPr/>
          <p:nvPr/>
        </p:nvSpPr>
        <p:spPr>
          <a:xfrm>
            <a:off x="692726" y="3492513"/>
            <a:ext cx="4160520" cy="678858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1E471FE-EDCE-1912-2914-0CC539B70C5F}"/>
              </a:ext>
            </a:extLst>
          </p:cNvPr>
          <p:cNvSpPr/>
          <p:nvPr/>
        </p:nvSpPr>
        <p:spPr>
          <a:xfrm>
            <a:off x="875606" y="362127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Current Process Understanding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BC5E0DD-0564-64D9-1196-CE752C606BC6}"/>
              </a:ext>
            </a:extLst>
          </p:cNvPr>
          <p:cNvSpPr/>
          <p:nvPr/>
        </p:nvSpPr>
        <p:spPr>
          <a:xfrm>
            <a:off x="2594956" y="4064470"/>
            <a:ext cx="27432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C8D7D78-C659-D733-34D8-33F48B04D62B}"/>
              </a:ext>
            </a:extLst>
          </p:cNvPr>
          <p:cNvSpPr/>
          <p:nvPr/>
        </p:nvSpPr>
        <p:spPr>
          <a:xfrm>
            <a:off x="692726" y="4427552"/>
            <a:ext cx="4160520" cy="656428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591B1D3-8928-7FCF-BA48-C75217EA8423}"/>
              </a:ext>
            </a:extLst>
          </p:cNvPr>
          <p:cNvSpPr/>
          <p:nvPr/>
        </p:nvSpPr>
        <p:spPr>
          <a:xfrm>
            <a:off x="832771" y="4549425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Pain points  /  Priority  / Constraints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57EBA3F-73DA-F9F2-CD9B-76131F94171D}"/>
              </a:ext>
            </a:extLst>
          </p:cNvPr>
          <p:cNvSpPr/>
          <p:nvPr/>
        </p:nvSpPr>
        <p:spPr>
          <a:xfrm>
            <a:off x="5410200" y="111997"/>
            <a:ext cx="6660348" cy="958095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E554A4A1-1403-EEA3-0CDE-FE1FE276EFE5}"/>
              </a:ext>
            </a:extLst>
          </p:cNvPr>
          <p:cNvSpPr/>
          <p:nvPr/>
        </p:nvSpPr>
        <p:spPr>
          <a:xfrm>
            <a:off x="5517833" y="158179"/>
            <a:ext cx="0" cy="85090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0E16843-7D28-F316-808B-858C510DCCF2}"/>
              </a:ext>
            </a:extLst>
          </p:cNvPr>
          <p:cNvSpPr/>
          <p:nvPr/>
        </p:nvSpPr>
        <p:spPr>
          <a:xfrm>
            <a:off x="5614815" y="198193"/>
            <a:ext cx="6664047" cy="1475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chemeClr val="bg1"/>
                </a:solidFill>
              </a:rPr>
              <a:t>Stakeholder discussions were used to understand the existing process, business objectives, constraints, dependencies, and what should — and should not change.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E455E785-9584-DB1E-CD39-3CA1C0EBB17A}"/>
              </a:ext>
            </a:extLst>
          </p:cNvPr>
          <p:cNvSpPr/>
          <p:nvPr/>
        </p:nvSpPr>
        <p:spPr>
          <a:xfrm>
            <a:off x="685800" y="5346793"/>
            <a:ext cx="4160520" cy="656428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02C39013-7DB2-13DF-FE06-0AEA76588B72}"/>
              </a:ext>
            </a:extLst>
          </p:cNvPr>
          <p:cNvSpPr/>
          <p:nvPr/>
        </p:nvSpPr>
        <p:spPr>
          <a:xfrm>
            <a:off x="754380" y="5432691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Requirements &amp; Assumptions</a:t>
            </a: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872DBF68-5E4B-4855-357E-7D25BB53F68E}"/>
              </a:ext>
            </a:extLst>
          </p:cNvPr>
          <p:cNvSpPr/>
          <p:nvPr/>
        </p:nvSpPr>
        <p:spPr>
          <a:xfrm>
            <a:off x="2583180" y="4928860"/>
            <a:ext cx="27432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9A29FB2-354E-5409-D605-D7651E135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2662" y="1661700"/>
            <a:ext cx="867716" cy="84325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9E7B12E-8081-4A82-605B-17AA705047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9962" y="2610809"/>
            <a:ext cx="779353" cy="61889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86C008E-E703-7F05-9A4C-E0F734C26E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1685" y="3533643"/>
            <a:ext cx="950377" cy="65642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128E811-4B5D-6218-7527-EEEC0EAC32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9273" y="4446252"/>
            <a:ext cx="643335" cy="64333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3A714B0-5416-CE59-8E19-E905393A2D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685" y="5365493"/>
            <a:ext cx="844822" cy="656429"/>
          </a:xfrm>
          <a:prstGeom prst="rect">
            <a:avLst/>
          </a:prstGeom>
        </p:spPr>
      </p:pic>
      <p:sp>
        <p:nvSpPr>
          <p:cNvPr id="46" name="Arc 45">
            <a:extLst>
              <a:ext uri="{FF2B5EF4-FFF2-40B4-BE49-F238E27FC236}">
                <a16:creationId xmlns:a16="http://schemas.microsoft.com/office/drawing/2014/main" id="{793FB877-F554-DB9E-2388-DB9D50FC6220}"/>
              </a:ext>
            </a:extLst>
          </p:cNvPr>
          <p:cNvSpPr/>
          <p:nvPr/>
        </p:nvSpPr>
        <p:spPr>
          <a:xfrm>
            <a:off x="2563390" y="2178108"/>
            <a:ext cx="4668035" cy="3273405"/>
          </a:xfrm>
          <a:prstGeom prst="arc">
            <a:avLst>
              <a:gd name="adj1" fmla="val 16200000"/>
              <a:gd name="adj2" fmla="val 5478631"/>
            </a:avLst>
          </a:prstGeom>
          <a:ln w="28575">
            <a:solidFill>
              <a:srgbClr val="C8FF3D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19037382-FE3B-F3E6-A8FD-C486D34E8C36}"/>
              </a:ext>
            </a:extLst>
          </p:cNvPr>
          <p:cNvSpPr/>
          <p:nvPr/>
        </p:nvSpPr>
        <p:spPr>
          <a:xfrm>
            <a:off x="2869276" y="2975242"/>
            <a:ext cx="3996736" cy="2355056"/>
          </a:xfrm>
          <a:prstGeom prst="arc">
            <a:avLst>
              <a:gd name="adj1" fmla="val 16200000"/>
              <a:gd name="adj2" fmla="val 5346628"/>
            </a:avLst>
          </a:prstGeom>
          <a:ln w="28575">
            <a:solidFill>
              <a:srgbClr val="C8FF3D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AC11CB9D-21BA-2108-2642-E13A078202A7}"/>
              </a:ext>
            </a:extLst>
          </p:cNvPr>
          <p:cNvSpPr/>
          <p:nvPr/>
        </p:nvSpPr>
        <p:spPr>
          <a:xfrm>
            <a:off x="3364208" y="3757365"/>
            <a:ext cx="3108036" cy="1850147"/>
          </a:xfrm>
          <a:prstGeom prst="arc">
            <a:avLst>
              <a:gd name="adj1" fmla="val 16200000"/>
              <a:gd name="adj2" fmla="val 5607399"/>
            </a:avLst>
          </a:prstGeom>
          <a:ln w="28575">
            <a:solidFill>
              <a:srgbClr val="C8FF3D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C15692D2-30AB-50A0-5652-5FF2A837C3E0}"/>
              </a:ext>
            </a:extLst>
          </p:cNvPr>
          <p:cNvSpPr/>
          <p:nvPr/>
        </p:nvSpPr>
        <p:spPr>
          <a:xfrm>
            <a:off x="3579435" y="4497661"/>
            <a:ext cx="2579392" cy="1245409"/>
          </a:xfrm>
          <a:prstGeom prst="arc">
            <a:avLst>
              <a:gd name="adj1" fmla="val 16200000"/>
              <a:gd name="adj2" fmla="val 5607399"/>
            </a:avLst>
          </a:prstGeom>
          <a:ln w="28575">
            <a:solidFill>
              <a:srgbClr val="C8FF3D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5FAA759-34E9-7D7A-4ABC-9A0B489B8305}"/>
              </a:ext>
            </a:extLst>
          </p:cNvPr>
          <p:cNvCxnSpPr/>
          <p:nvPr/>
        </p:nvCxnSpPr>
        <p:spPr>
          <a:xfrm>
            <a:off x="4853246" y="2044700"/>
            <a:ext cx="2378179" cy="133408"/>
          </a:xfrm>
          <a:prstGeom prst="straightConnector1">
            <a:avLst/>
          </a:prstGeom>
          <a:ln w="28575">
            <a:solidFill>
              <a:srgbClr val="C8FF3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15">
            <a:extLst>
              <a:ext uri="{FF2B5EF4-FFF2-40B4-BE49-F238E27FC236}">
                <a16:creationId xmlns:a16="http://schemas.microsoft.com/office/drawing/2014/main" id="{3D84330C-33EB-CF5E-07CF-1B49EC5B9CFE}"/>
              </a:ext>
            </a:extLst>
          </p:cNvPr>
          <p:cNvSpPr/>
          <p:nvPr/>
        </p:nvSpPr>
        <p:spPr>
          <a:xfrm>
            <a:off x="7832292" y="2171596"/>
            <a:ext cx="4238256" cy="14096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8000"/>
              </a:lnSpc>
            </a:pPr>
            <a:r>
              <a:rPr lang="en-US" sz="1400" b="1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only want to consider customers who have an active mobile banking account…. By active , I mean the account is registered, accessible and not blocked or suspended.</a:t>
            </a:r>
            <a:endParaRPr lang="en-US" sz="1400" b="1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B8D631D-5CA8-F244-8F9A-51863A45877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25393" y="1872617"/>
            <a:ext cx="794423" cy="794423"/>
          </a:xfrm>
          <a:prstGeom prst="rect">
            <a:avLst/>
          </a:prstGeom>
        </p:spPr>
      </p:pic>
      <p:sp>
        <p:nvSpPr>
          <p:cNvPr id="60" name="Text 15">
            <a:extLst>
              <a:ext uri="{FF2B5EF4-FFF2-40B4-BE49-F238E27FC236}">
                <a16:creationId xmlns:a16="http://schemas.microsoft.com/office/drawing/2014/main" id="{85675880-87C1-2617-FD52-3D83262DB75A}"/>
              </a:ext>
            </a:extLst>
          </p:cNvPr>
          <p:cNvSpPr/>
          <p:nvPr/>
        </p:nvSpPr>
        <p:spPr>
          <a:xfrm>
            <a:off x="7163749" y="2523487"/>
            <a:ext cx="584518" cy="4074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8000"/>
              </a:lnSpc>
            </a:pPr>
            <a:r>
              <a:rPr lang="en-US" sz="1400" b="1" i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SME:</a:t>
            </a:r>
            <a:r>
              <a:rPr lang="en-US" sz="1400" b="1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b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563889B-584F-4145-A3E2-27F39022B0CD}"/>
              </a:ext>
            </a:extLst>
          </p:cNvPr>
          <p:cNvCxnSpPr>
            <a:cxnSpLocks/>
          </p:cNvCxnSpPr>
          <p:nvPr/>
        </p:nvCxnSpPr>
        <p:spPr>
          <a:xfrm flipV="1">
            <a:off x="4897407" y="5693707"/>
            <a:ext cx="2334018" cy="49363"/>
          </a:xfrm>
          <a:prstGeom prst="straightConnector1">
            <a:avLst/>
          </a:prstGeom>
          <a:ln w="28575">
            <a:solidFill>
              <a:srgbClr val="C8FF3D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15">
            <a:extLst>
              <a:ext uri="{FF2B5EF4-FFF2-40B4-BE49-F238E27FC236}">
                <a16:creationId xmlns:a16="http://schemas.microsoft.com/office/drawing/2014/main" id="{76D373C6-84D4-DFA0-1DA2-101BAC5FF807}"/>
              </a:ext>
            </a:extLst>
          </p:cNvPr>
          <p:cNvSpPr/>
          <p:nvPr/>
        </p:nvSpPr>
        <p:spPr>
          <a:xfrm>
            <a:off x="7094185" y="4371362"/>
            <a:ext cx="2274197" cy="4517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8000"/>
              </a:lnSpc>
            </a:pPr>
            <a:r>
              <a:rPr lang="en-US" sz="1400" b="1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Requirement:</a:t>
            </a:r>
            <a:endParaRPr lang="en-US" sz="1400" b="1" dirty="0">
              <a:solidFill>
                <a:srgbClr val="C8FF3D"/>
              </a:solidFill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1FDFEDF1-EB6C-711D-DBB2-4B6F4A495359}"/>
              </a:ext>
            </a:extLst>
          </p:cNvPr>
          <p:cNvSpPr/>
          <p:nvPr/>
        </p:nvSpPr>
        <p:spPr>
          <a:xfrm>
            <a:off x="7125393" y="4573356"/>
            <a:ext cx="5202113" cy="1905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8000"/>
              </a:lnSpc>
            </a:pPr>
            <a:r>
              <a:rPr lang="en-US" sz="1400" b="1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must have an active mobile banking account with digital banking services enabled:</a:t>
            </a:r>
          </a:p>
          <a:p>
            <a:pPr marL="342900" indent="-342900">
              <a:lnSpc>
                <a:spcPct val="128000"/>
              </a:lnSpc>
              <a:buFont typeface="+mj-lt"/>
              <a:buAutoNum type="arabicPeriod"/>
            </a:pPr>
            <a:r>
              <a:rPr lang="en-US" sz="1400" b="1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has successfully registered for the bank's mobile banking service.</a:t>
            </a:r>
          </a:p>
          <a:p>
            <a:pPr marL="342900" indent="-342900">
              <a:lnSpc>
                <a:spcPct val="128000"/>
              </a:lnSpc>
              <a:buFont typeface="+mj-lt"/>
              <a:buAutoNum type="arabicPeriod"/>
            </a:pPr>
            <a:r>
              <a:rPr lang="en-US" sz="1400" b="1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banking account is currently active and accessible.</a:t>
            </a:r>
          </a:p>
          <a:p>
            <a:pPr marL="342900" indent="-342900">
              <a:lnSpc>
                <a:spcPct val="128000"/>
              </a:lnSpc>
              <a:buFont typeface="+mj-lt"/>
              <a:buAutoNum type="arabicPeriod"/>
            </a:pPr>
            <a:r>
              <a:rPr lang="en-US" sz="1400" b="1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hasn't been blocked, suspended, or deactivated.</a:t>
            </a:r>
          </a:p>
          <a:p>
            <a:pPr>
              <a:lnSpc>
                <a:spcPct val="128000"/>
              </a:lnSpc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0211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130F7-A852-55B2-16DB-E0885CF3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4/gradient_bg.png">
            <a:extLst>
              <a:ext uri="{FF2B5EF4-FFF2-40B4-BE49-F238E27FC236}">
                <a16:creationId xmlns:a16="http://schemas.microsoft.com/office/drawing/2014/main" id="{8D2C483E-6746-2379-8EE8-C70B7CE8ED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BC639C5-2165-1BA4-017B-7EAA65BA2214}"/>
              </a:ext>
            </a:extLst>
          </p:cNvPr>
          <p:cNvSpPr/>
          <p:nvPr/>
        </p:nvSpPr>
        <p:spPr>
          <a:xfrm>
            <a:off x="548640" y="2046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CASE STUDY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32013BD-CE10-16AB-30B8-FF9E947E6848}"/>
              </a:ext>
            </a:extLst>
          </p:cNvPr>
          <p:cNvSpPr/>
          <p:nvPr/>
        </p:nvSpPr>
        <p:spPr>
          <a:xfrm>
            <a:off x="548640" y="514831"/>
            <a:ext cx="11064240" cy="6150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kern="0" spc="-3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To –Be </a:t>
            </a:r>
            <a:r>
              <a:rPr lang="en-US" sz="2200" kern="0" spc="-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Framework</a:t>
            </a:r>
            <a:endParaRPr lang="en-US" sz="22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FE4A5AB-B0BF-F2A7-B466-75A2D54D7B84}"/>
              </a:ext>
            </a:extLst>
          </p:cNvPr>
          <p:cNvSpPr/>
          <p:nvPr/>
        </p:nvSpPr>
        <p:spPr>
          <a:xfrm>
            <a:off x="260876" y="1056385"/>
            <a:ext cx="11782182" cy="996352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31FEB45-C0E8-F3A1-249F-0327DACEB372}"/>
              </a:ext>
            </a:extLst>
          </p:cNvPr>
          <p:cNvSpPr/>
          <p:nvPr/>
        </p:nvSpPr>
        <p:spPr>
          <a:xfrm flipH="1">
            <a:off x="419724" y="1095012"/>
            <a:ext cx="1" cy="827833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ABE81DA-DAF5-69D3-3B3F-A9557C30C52A}"/>
              </a:ext>
            </a:extLst>
          </p:cNvPr>
          <p:cNvSpPr/>
          <p:nvPr/>
        </p:nvSpPr>
        <p:spPr>
          <a:xfrm>
            <a:off x="458301" y="843406"/>
            <a:ext cx="11387333" cy="1331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endParaRPr lang="en-US" sz="1500" dirty="0"/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chemeClr val="bg1"/>
                </a:solidFill>
              </a:rPr>
              <a:t>The To-Be framework introduces an incremental digital recommendation pathway that identifies digitally active customers, delivers personalized recommendations in-app and measures engagement </a:t>
            </a:r>
            <a:r>
              <a:rPr lang="en-IN" sz="1600" dirty="0">
                <a:solidFill>
                  <a:schemeClr val="bg1"/>
                </a:solidFill>
              </a:rPr>
              <a:t>—</a:t>
            </a:r>
            <a:r>
              <a:rPr lang="en-US" sz="1500" dirty="0">
                <a:solidFill>
                  <a:schemeClr val="bg1"/>
                </a:solidFill>
              </a:rPr>
              <a:t>while keeping the existing cross-selling and application processes intact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F5339-F393-6F86-D4BE-ECD140DA2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25" y="2159226"/>
            <a:ext cx="11623333" cy="459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8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EB74-8684-3EF0-CC0F-0D5DECAC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4/gradient_bg.png">
            <a:extLst>
              <a:ext uri="{FF2B5EF4-FFF2-40B4-BE49-F238E27FC236}">
                <a16:creationId xmlns:a16="http://schemas.microsoft.com/office/drawing/2014/main" id="{A1FA1A10-1FF8-BFBB-B7A0-E74B6B99B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F398158-907F-7C54-7887-7A196BBF9E1C}"/>
              </a:ext>
            </a:extLst>
          </p:cNvPr>
          <p:cNvSpPr/>
          <p:nvPr/>
        </p:nvSpPr>
        <p:spPr>
          <a:xfrm>
            <a:off x="548640" y="2046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CASE STUDY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F5248FE-9D94-4B52-27B4-1969624E041C}"/>
              </a:ext>
            </a:extLst>
          </p:cNvPr>
          <p:cNvSpPr/>
          <p:nvPr/>
        </p:nvSpPr>
        <p:spPr>
          <a:xfrm>
            <a:off x="548640" y="583629"/>
            <a:ext cx="11064240" cy="6114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kern="0" spc="-3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Framework to </a:t>
            </a:r>
            <a:r>
              <a:rPr lang="en-US" sz="2200" kern="0" spc="-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 Requirement</a:t>
            </a:r>
            <a:endParaRPr lang="en-US" sz="2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D8A84BB-4A06-28E9-C798-08B890B2E11C}"/>
              </a:ext>
            </a:extLst>
          </p:cNvPr>
          <p:cNvSpPr/>
          <p:nvPr/>
        </p:nvSpPr>
        <p:spPr>
          <a:xfrm>
            <a:off x="502920" y="1544233"/>
            <a:ext cx="11109960" cy="4544239"/>
          </a:xfrm>
          <a:prstGeom prst="roundRect">
            <a:avLst>
              <a:gd name="adj" fmla="val 3145"/>
            </a:avLst>
          </a:prstGeom>
          <a:ln w="19050">
            <a:solidFill>
              <a:srgbClr val="C8FF3D"/>
            </a:solidFill>
            <a:prstDash val="dash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1520543-20A8-3CAE-9C7D-7182A30521C3}"/>
              </a:ext>
            </a:extLst>
          </p:cNvPr>
          <p:cNvSpPr/>
          <p:nvPr/>
        </p:nvSpPr>
        <p:spPr>
          <a:xfrm>
            <a:off x="685800" y="3869049"/>
            <a:ext cx="5168900" cy="2042144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49F4AA4-427C-184E-B49F-059AE0F3E1DF}"/>
              </a:ext>
            </a:extLst>
          </p:cNvPr>
          <p:cNvSpPr/>
          <p:nvPr/>
        </p:nvSpPr>
        <p:spPr>
          <a:xfrm>
            <a:off x="685800" y="6162067"/>
            <a:ext cx="13060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8000"/>
              </a:lnSpc>
            </a:pPr>
            <a:r>
              <a:rPr lang="en-US" sz="1600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functional requirements, business rules, dependencies and priorities are documented in the FRD.</a:t>
            </a:r>
            <a:endParaRPr lang="en-US" sz="16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2A94447B-76F9-FCB6-83A6-32A53B2BA02F}"/>
              </a:ext>
            </a:extLst>
          </p:cNvPr>
          <p:cNvSpPr/>
          <p:nvPr/>
        </p:nvSpPr>
        <p:spPr>
          <a:xfrm>
            <a:off x="811220" y="3620008"/>
            <a:ext cx="4589328" cy="1270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Digital Product Recommendation</a:t>
            </a: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DEE95118-2436-AAE1-2363-2BA8997BD0C7}"/>
              </a:ext>
            </a:extLst>
          </p:cNvPr>
          <p:cNvSpPr/>
          <p:nvPr/>
        </p:nvSpPr>
        <p:spPr>
          <a:xfrm>
            <a:off x="1310032" y="4343704"/>
            <a:ext cx="3808067" cy="1270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campaigns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specific recommendations</a:t>
            </a: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C283CA39-8F68-FF19-ED0F-B131F378AFA8}"/>
              </a:ext>
            </a:extLst>
          </p:cNvPr>
          <p:cNvSpPr/>
          <p:nvPr/>
        </p:nvSpPr>
        <p:spPr>
          <a:xfrm>
            <a:off x="685800" y="1702029"/>
            <a:ext cx="5168900" cy="2042144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9F3BF56D-6B21-A95B-9CA6-66AC1E8378E5}"/>
              </a:ext>
            </a:extLst>
          </p:cNvPr>
          <p:cNvSpPr/>
          <p:nvPr/>
        </p:nvSpPr>
        <p:spPr>
          <a:xfrm>
            <a:off x="647700" y="1454749"/>
            <a:ext cx="5354320" cy="1270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Identification &amp; Qualification</a:t>
            </a:r>
            <a:endParaRPr lang="en-US" sz="24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E9F68801-3ED6-B8B1-E66D-49BE7ABD830B}"/>
              </a:ext>
            </a:extLst>
          </p:cNvPr>
          <p:cNvSpPr/>
          <p:nvPr/>
        </p:nvSpPr>
        <p:spPr>
          <a:xfrm>
            <a:off x="1327531" y="2318100"/>
            <a:ext cx="3121406" cy="1270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Eligibility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Digital availability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Digital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Digital qualification</a:t>
            </a:r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71B5D94E-004F-73C1-0704-099656D3D091}"/>
              </a:ext>
            </a:extLst>
          </p:cNvPr>
          <p:cNvSpPr/>
          <p:nvPr/>
        </p:nvSpPr>
        <p:spPr>
          <a:xfrm>
            <a:off x="6228588" y="3868829"/>
            <a:ext cx="5168900" cy="2042144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283C1F43-BC58-36D9-CA67-6F98D10A93DF}"/>
              </a:ext>
            </a:extLst>
          </p:cNvPr>
          <p:cNvSpPr/>
          <p:nvPr/>
        </p:nvSpPr>
        <p:spPr>
          <a:xfrm>
            <a:off x="6163000" y="1702029"/>
            <a:ext cx="5168900" cy="2042144"/>
          </a:xfrm>
          <a:prstGeom prst="roundRect">
            <a:avLst>
              <a:gd name="adj" fmla="val 14000"/>
            </a:avLst>
          </a:prstGeom>
          <a:solidFill>
            <a:srgbClr val="F5F3FB"/>
          </a:solidFill>
          <a:ln/>
          <a:effectLst>
            <a:outerShdw blurRad="63500" dist="25400" dir="5400000" algn="bl" rotWithShape="0">
              <a:srgbClr val="0A0618">
                <a:alpha val="30000"/>
              </a:srgbClr>
            </a:outerShdw>
          </a:effectLst>
        </p:spPr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B7584099-FBC8-8AE2-2970-164BE9A19925}"/>
              </a:ext>
            </a:extLst>
          </p:cNvPr>
          <p:cNvSpPr/>
          <p:nvPr/>
        </p:nvSpPr>
        <p:spPr>
          <a:xfrm>
            <a:off x="6452786" y="1436418"/>
            <a:ext cx="4589328" cy="1270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Campaign Configuration</a:t>
            </a:r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427D85C5-92C6-BF2C-C9E1-CDE0629D26D5}"/>
              </a:ext>
            </a:extLst>
          </p:cNvPr>
          <p:cNvSpPr/>
          <p:nvPr/>
        </p:nvSpPr>
        <p:spPr>
          <a:xfrm>
            <a:off x="6765283" y="2318817"/>
            <a:ext cx="3808067" cy="1270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Campaign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Qualification criteria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Campaign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Recommendation content</a:t>
            </a: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7404355A-9707-DEFD-29E4-47EB3261107D}"/>
              </a:ext>
            </a:extLst>
          </p:cNvPr>
          <p:cNvSpPr/>
          <p:nvPr/>
        </p:nvSpPr>
        <p:spPr>
          <a:xfrm>
            <a:off x="6731360" y="4355779"/>
            <a:ext cx="3808067" cy="1270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Comparison &amp; Trend</a:t>
            </a:r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0F40055F-9B46-7CB4-2C92-45E45E200EA3}"/>
              </a:ext>
            </a:extLst>
          </p:cNvPr>
          <p:cNvSpPr/>
          <p:nvPr/>
        </p:nvSpPr>
        <p:spPr>
          <a:xfrm>
            <a:off x="6374652" y="3620008"/>
            <a:ext cx="5314428" cy="1270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Campaign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382680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CDCC0-8A17-C8BF-57D1-D7A815F93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4/gradient_bg.png">
            <a:extLst>
              <a:ext uri="{FF2B5EF4-FFF2-40B4-BE49-F238E27FC236}">
                <a16:creationId xmlns:a16="http://schemas.microsoft.com/office/drawing/2014/main" id="{F23822F3-EC85-8B15-7B2A-951530A1BC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69BADD8-101B-4BC6-0862-E1D1374C9F82}"/>
              </a:ext>
            </a:extLst>
          </p:cNvPr>
          <p:cNvSpPr/>
          <p:nvPr/>
        </p:nvSpPr>
        <p:spPr>
          <a:xfrm>
            <a:off x="548640" y="2046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CASE STUDY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6593DA9-EE4D-869D-3DD6-BC4C7F3B029B}"/>
              </a:ext>
            </a:extLst>
          </p:cNvPr>
          <p:cNvSpPr/>
          <p:nvPr/>
        </p:nvSpPr>
        <p:spPr>
          <a:xfrm>
            <a:off x="548640" y="583629"/>
            <a:ext cx="6308130" cy="730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kern="0" spc="-3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Requirement to </a:t>
            </a:r>
            <a:r>
              <a:rPr lang="en-US" sz="2200" kern="0" spc="-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Interaction</a:t>
            </a:r>
            <a:endParaRPr lang="en-US" sz="2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426D8B7-A358-4F0D-AB41-B71CCBC365D4}"/>
              </a:ext>
            </a:extLst>
          </p:cNvPr>
          <p:cNvSpPr/>
          <p:nvPr/>
        </p:nvSpPr>
        <p:spPr>
          <a:xfrm>
            <a:off x="2568448" y="6125261"/>
            <a:ext cx="13060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8000"/>
              </a:lnSpc>
            </a:pPr>
            <a:r>
              <a:rPr lang="en-US" sz="1400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interaction was further detailed through User Stories and Acceptance Criteria</a:t>
            </a:r>
            <a:r>
              <a:rPr lang="en-US" sz="1200" i="1" dirty="0">
                <a:solidFill>
                  <a:srgbClr val="E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5775500-8CDF-190E-1B91-289455F4B288}"/>
              </a:ext>
            </a:extLst>
          </p:cNvPr>
          <p:cNvSpPr/>
          <p:nvPr/>
        </p:nvSpPr>
        <p:spPr>
          <a:xfrm>
            <a:off x="3079588" y="1332445"/>
            <a:ext cx="5287726" cy="762389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F3722DF-3B86-23DD-A26E-B42793D9F6DD}"/>
              </a:ext>
            </a:extLst>
          </p:cNvPr>
          <p:cNvSpPr/>
          <p:nvPr/>
        </p:nvSpPr>
        <p:spPr>
          <a:xfrm flipV="1">
            <a:off x="2019299" y="2440772"/>
            <a:ext cx="7913699" cy="16439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618E400-D131-7151-90DA-424777E0A203}"/>
              </a:ext>
            </a:extLst>
          </p:cNvPr>
          <p:cNvSpPr/>
          <p:nvPr/>
        </p:nvSpPr>
        <p:spPr>
          <a:xfrm>
            <a:off x="3079588" y="1490115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FF3D"/>
                </a:solidFill>
                <a:latin typeface="Arial Black" pitchFamily="34" charset="0"/>
              </a:rPr>
              <a:t>Digital Recommendation Framework</a:t>
            </a:r>
            <a:endParaRPr lang="en-US" sz="20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32B2B662-4FFE-786E-9434-A2ECFED731DA}"/>
              </a:ext>
            </a:extLst>
          </p:cNvPr>
          <p:cNvSpPr/>
          <p:nvPr/>
        </p:nvSpPr>
        <p:spPr>
          <a:xfrm>
            <a:off x="435725" y="2982984"/>
            <a:ext cx="3066168" cy="2855109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D196B2FB-2617-F020-320C-42C39FF85194}"/>
              </a:ext>
            </a:extLst>
          </p:cNvPr>
          <p:cNvSpPr/>
          <p:nvPr/>
        </p:nvSpPr>
        <p:spPr>
          <a:xfrm>
            <a:off x="4245698" y="2948820"/>
            <a:ext cx="3066168" cy="2878165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38BD32C7-A78F-D8B2-7D66-AFC3C556E5AC}"/>
              </a:ext>
            </a:extLst>
          </p:cNvPr>
          <p:cNvSpPr/>
          <p:nvPr/>
        </p:nvSpPr>
        <p:spPr>
          <a:xfrm>
            <a:off x="8075394" y="2930745"/>
            <a:ext cx="3066168" cy="2806462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6E9408E8-A627-590B-B2F0-8CA523A8079B}"/>
              </a:ext>
            </a:extLst>
          </p:cNvPr>
          <p:cNvSpPr/>
          <p:nvPr/>
        </p:nvSpPr>
        <p:spPr>
          <a:xfrm>
            <a:off x="1091220" y="3591094"/>
            <a:ext cx="2366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Campaign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81EF6916-CAE0-BCB4-3457-436D0CAA8C9D}"/>
              </a:ext>
            </a:extLst>
          </p:cNvPr>
          <p:cNvSpPr/>
          <p:nvPr/>
        </p:nvSpPr>
        <p:spPr>
          <a:xfrm>
            <a:off x="1196068" y="4265456"/>
            <a:ext cx="16651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Campaign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EC93372A-C4B7-F821-F1CE-54195FF489C9}"/>
              </a:ext>
            </a:extLst>
          </p:cNvPr>
          <p:cNvSpPr/>
          <p:nvPr/>
        </p:nvSpPr>
        <p:spPr>
          <a:xfrm>
            <a:off x="1595692" y="3957896"/>
            <a:ext cx="551923" cy="331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E053CAD8-E95E-3664-4B01-EADB7AE9FF1F}"/>
              </a:ext>
            </a:extLst>
          </p:cNvPr>
          <p:cNvSpPr/>
          <p:nvPr/>
        </p:nvSpPr>
        <p:spPr>
          <a:xfrm>
            <a:off x="5483117" y="4348178"/>
            <a:ext cx="551923" cy="331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ACEECA5B-8B70-2E25-8858-C545DC5D90D4}"/>
              </a:ext>
            </a:extLst>
          </p:cNvPr>
          <p:cNvSpPr/>
          <p:nvPr/>
        </p:nvSpPr>
        <p:spPr>
          <a:xfrm>
            <a:off x="5476965" y="4857889"/>
            <a:ext cx="551923" cy="331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4CB32668-5634-53DE-2264-5EB6DF7F4891}"/>
              </a:ext>
            </a:extLst>
          </p:cNvPr>
          <p:cNvSpPr/>
          <p:nvPr/>
        </p:nvSpPr>
        <p:spPr>
          <a:xfrm>
            <a:off x="5472971" y="3827341"/>
            <a:ext cx="551923" cy="331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8" name="Text 18">
            <a:extLst>
              <a:ext uri="{FF2B5EF4-FFF2-40B4-BE49-F238E27FC236}">
                <a16:creationId xmlns:a16="http://schemas.microsoft.com/office/drawing/2014/main" id="{BBC0E14E-BDD0-AEB5-D53F-CDAEC39F6A79}"/>
              </a:ext>
            </a:extLst>
          </p:cNvPr>
          <p:cNvSpPr/>
          <p:nvPr/>
        </p:nvSpPr>
        <p:spPr>
          <a:xfrm>
            <a:off x="8610106" y="3560034"/>
            <a:ext cx="260467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Review Performance</a:t>
            </a:r>
          </a:p>
        </p:txBody>
      </p:sp>
      <p:sp>
        <p:nvSpPr>
          <p:cNvPr id="84" name="Text 13">
            <a:extLst>
              <a:ext uri="{FF2B5EF4-FFF2-40B4-BE49-F238E27FC236}">
                <a16:creationId xmlns:a16="http://schemas.microsoft.com/office/drawing/2014/main" id="{14BCB6F8-0968-82C2-FF16-8CD6671529F9}"/>
              </a:ext>
            </a:extLst>
          </p:cNvPr>
          <p:cNvSpPr/>
          <p:nvPr/>
        </p:nvSpPr>
        <p:spPr>
          <a:xfrm>
            <a:off x="1136243" y="4825612"/>
            <a:ext cx="16651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A722B6F0-2D1B-630B-85DF-FA8A93DD40CF}"/>
              </a:ext>
            </a:extLst>
          </p:cNvPr>
          <p:cNvSpPr/>
          <p:nvPr/>
        </p:nvSpPr>
        <p:spPr>
          <a:xfrm>
            <a:off x="4856553" y="3501602"/>
            <a:ext cx="18814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recommendation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8" name="Text 13">
            <a:extLst>
              <a:ext uri="{FF2B5EF4-FFF2-40B4-BE49-F238E27FC236}">
                <a16:creationId xmlns:a16="http://schemas.microsoft.com/office/drawing/2014/main" id="{A61A3F4F-3B8F-005C-FE8F-73BD92D8E6D1}"/>
              </a:ext>
            </a:extLst>
          </p:cNvPr>
          <p:cNvSpPr/>
          <p:nvPr/>
        </p:nvSpPr>
        <p:spPr>
          <a:xfrm>
            <a:off x="5392340" y="4036856"/>
            <a:ext cx="18814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D110F36C-67A0-871C-2652-1EEA95869CA4}"/>
              </a:ext>
            </a:extLst>
          </p:cNvPr>
          <p:cNvSpPr/>
          <p:nvPr/>
        </p:nvSpPr>
        <p:spPr>
          <a:xfrm>
            <a:off x="5466249" y="4553341"/>
            <a:ext cx="18814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4" name="Text 13">
            <a:extLst>
              <a:ext uri="{FF2B5EF4-FFF2-40B4-BE49-F238E27FC236}">
                <a16:creationId xmlns:a16="http://schemas.microsoft.com/office/drawing/2014/main" id="{73F99977-73AD-3AD6-A463-E28E35B6642C}"/>
              </a:ext>
            </a:extLst>
          </p:cNvPr>
          <p:cNvSpPr/>
          <p:nvPr/>
        </p:nvSpPr>
        <p:spPr>
          <a:xfrm>
            <a:off x="4975318" y="5076365"/>
            <a:ext cx="18814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Application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6" name="Text 14">
            <a:extLst>
              <a:ext uri="{FF2B5EF4-FFF2-40B4-BE49-F238E27FC236}">
                <a16:creationId xmlns:a16="http://schemas.microsoft.com/office/drawing/2014/main" id="{9D47E045-7EB1-1291-95D8-4B605891A2BD}"/>
              </a:ext>
            </a:extLst>
          </p:cNvPr>
          <p:cNvSpPr/>
          <p:nvPr/>
        </p:nvSpPr>
        <p:spPr>
          <a:xfrm>
            <a:off x="9711275" y="1921699"/>
            <a:ext cx="402336" cy="1413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4000" dirty="0"/>
          </a:p>
        </p:txBody>
      </p:sp>
      <p:sp>
        <p:nvSpPr>
          <p:cNvPr id="98" name="Text 14">
            <a:extLst>
              <a:ext uri="{FF2B5EF4-FFF2-40B4-BE49-F238E27FC236}">
                <a16:creationId xmlns:a16="http://schemas.microsoft.com/office/drawing/2014/main" id="{837950A9-9CDF-BC5D-2F0C-EB04B9AD2423}"/>
              </a:ext>
            </a:extLst>
          </p:cNvPr>
          <p:cNvSpPr/>
          <p:nvPr/>
        </p:nvSpPr>
        <p:spPr>
          <a:xfrm>
            <a:off x="1852492" y="1924693"/>
            <a:ext cx="402336" cy="1413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4000" dirty="0"/>
          </a:p>
        </p:txBody>
      </p:sp>
      <p:sp>
        <p:nvSpPr>
          <p:cNvPr id="100" name="Text 14">
            <a:extLst>
              <a:ext uri="{FF2B5EF4-FFF2-40B4-BE49-F238E27FC236}">
                <a16:creationId xmlns:a16="http://schemas.microsoft.com/office/drawing/2014/main" id="{9FE78C3C-41AB-77E5-6C13-7FDE3FF4A6E6}"/>
              </a:ext>
            </a:extLst>
          </p:cNvPr>
          <p:cNvSpPr/>
          <p:nvPr/>
        </p:nvSpPr>
        <p:spPr>
          <a:xfrm>
            <a:off x="5596025" y="1935348"/>
            <a:ext cx="402336" cy="1413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4000" dirty="0"/>
          </a:p>
        </p:txBody>
      </p:sp>
      <p:sp>
        <p:nvSpPr>
          <p:cNvPr id="104" name="Text 18">
            <a:extLst>
              <a:ext uri="{FF2B5EF4-FFF2-40B4-BE49-F238E27FC236}">
                <a16:creationId xmlns:a16="http://schemas.microsoft.com/office/drawing/2014/main" id="{A0DA4EB4-7CAE-B838-558C-199B9C5B49FB}"/>
              </a:ext>
            </a:extLst>
          </p:cNvPr>
          <p:cNvSpPr/>
          <p:nvPr/>
        </p:nvSpPr>
        <p:spPr>
          <a:xfrm>
            <a:off x="720632" y="3018692"/>
            <a:ext cx="25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 MANAGER</a:t>
            </a:r>
            <a:endParaRPr lang="en-US" sz="1400" dirty="0"/>
          </a:p>
        </p:txBody>
      </p:sp>
      <p:sp>
        <p:nvSpPr>
          <p:cNvPr id="106" name="Text 18">
            <a:extLst>
              <a:ext uri="{FF2B5EF4-FFF2-40B4-BE49-F238E27FC236}">
                <a16:creationId xmlns:a16="http://schemas.microsoft.com/office/drawing/2014/main" id="{90255EAB-11FE-1AA3-BAEF-03AB4F06536C}"/>
              </a:ext>
            </a:extLst>
          </p:cNvPr>
          <p:cNvSpPr/>
          <p:nvPr/>
        </p:nvSpPr>
        <p:spPr>
          <a:xfrm>
            <a:off x="5055759" y="3052481"/>
            <a:ext cx="14641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08" name="Text 18">
            <a:extLst>
              <a:ext uri="{FF2B5EF4-FFF2-40B4-BE49-F238E27FC236}">
                <a16:creationId xmlns:a16="http://schemas.microsoft.com/office/drawing/2014/main" id="{F067018E-308D-BBFA-4417-91BD6BC7ABBC}"/>
              </a:ext>
            </a:extLst>
          </p:cNvPr>
          <p:cNvSpPr/>
          <p:nvPr/>
        </p:nvSpPr>
        <p:spPr>
          <a:xfrm>
            <a:off x="8367314" y="2977782"/>
            <a:ext cx="26186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&amp; BUSINESS LEADERSHIP</a:t>
            </a:r>
            <a:endParaRPr lang="en-US" sz="1400" dirty="0"/>
          </a:p>
        </p:txBody>
      </p:sp>
      <p:sp>
        <p:nvSpPr>
          <p:cNvPr id="110" name="Shape 17">
            <a:extLst>
              <a:ext uri="{FF2B5EF4-FFF2-40B4-BE49-F238E27FC236}">
                <a16:creationId xmlns:a16="http://schemas.microsoft.com/office/drawing/2014/main" id="{F5D05BF6-2355-2D50-F771-603083292FC4}"/>
              </a:ext>
            </a:extLst>
          </p:cNvPr>
          <p:cNvSpPr/>
          <p:nvPr/>
        </p:nvSpPr>
        <p:spPr>
          <a:xfrm>
            <a:off x="4737998" y="3521612"/>
            <a:ext cx="2042160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112" name="Shape 17">
            <a:extLst>
              <a:ext uri="{FF2B5EF4-FFF2-40B4-BE49-F238E27FC236}">
                <a16:creationId xmlns:a16="http://schemas.microsoft.com/office/drawing/2014/main" id="{DC84405A-54F0-DCE9-97C1-52E39084A790}"/>
              </a:ext>
            </a:extLst>
          </p:cNvPr>
          <p:cNvSpPr/>
          <p:nvPr/>
        </p:nvSpPr>
        <p:spPr>
          <a:xfrm>
            <a:off x="8587398" y="3545656"/>
            <a:ext cx="2042160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114" name="Shape 17">
            <a:extLst>
              <a:ext uri="{FF2B5EF4-FFF2-40B4-BE49-F238E27FC236}">
                <a16:creationId xmlns:a16="http://schemas.microsoft.com/office/drawing/2014/main" id="{05CADA9E-3B53-5760-A60B-4CBEBA03D471}"/>
              </a:ext>
            </a:extLst>
          </p:cNvPr>
          <p:cNvSpPr/>
          <p:nvPr/>
        </p:nvSpPr>
        <p:spPr>
          <a:xfrm>
            <a:off x="831412" y="3545656"/>
            <a:ext cx="2042160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229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68BE-A96D-6131-484A-E59900D87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4/gradient_bg.png">
            <a:extLst>
              <a:ext uri="{FF2B5EF4-FFF2-40B4-BE49-F238E27FC236}">
                <a16:creationId xmlns:a16="http://schemas.microsoft.com/office/drawing/2014/main" id="{C5C2FCD6-480B-0E4F-D508-4F1AEFF3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779CCFA-AC9C-159D-4DF7-3B7335BBEB3F}"/>
              </a:ext>
            </a:extLst>
          </p:cNvPr>
          <p:cNvSpPr/>
          <p:nvPr/>
        </p:nvSpPr>
        <p:spPr>
          <a:xfrm>
            <a:off x="548640" y="2046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CASE STUDY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69301E2-352E-9B8A-2176-4D871EF8DA86}"/>
              </a:ext>
            </a:extLst>
          </p:cNvPr>
          <p:cNvSpPr/>
          <p:nvPr/>
        </p:nvSpPr>
        <p:spPr>
          <a:xfrm>
            <a:off x="548640" y="583629"/>
            <a:ext cx="3883660" cy="590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8000"/>
              </a:lnSpc>
            </a:pPr>
            <a:r>
              <a:rPr lang="en-US" sz="2200" kern="0" spc="-3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 of the </a:t>
            </a:r>
            <a:r>
              <a:rPr lang="en-US" sz="2200" kern="0" spc="-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2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F7D4FD7-395D-716C-9C23-8F1D0D2350FF}"/>
              </a:ext>
            </a:extLst>
          </p:cNvPr>
          <p:cNvSpPr/>
          <p:nvPr/>
        </p:nvSpPr>
        <p:spPr>
          <a:xfrm>
            <a:off x="571246" y="1124887"/>
            <a:ext cx="11104880" cy="2152298"/>
          </a:xfrm>
          <a:prstGeom prst="roundRect">
            <a:avLst>
              <a:gd name="adj" fmla="val 3145"/>
            </a:avLst>
          </a:prstGeom>
          <a:ln w="19050">
            <a:solidFill>
              <a:srgbClr val="C8FF3D"/>
            </a:solidFill>
            <a:prstDash val="dash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DEF6B3E-6E30-7D03-8AA3-E08B28A39C58}"/>
              </a:ext>
            </a:extLst>
          </p:cNvPr>
          <p:cNvSpPr/>
          <p:nvPr/>
        </p:nvSpPr>
        <p:spPr>
          <a:xfrm>
            <a:off x="795273" y="2226498"/>
            <a:ext cx="1897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qualification 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E76C039-D31C-FD78-0CFE-17C3288250D4}"/>
              </a:ext>
            </a:extLst>
          </p:cNvPr>
          <p:cNvSpPr/>
          <p:nvPr/>
        </p:nvSpPr>
        <p:spPr>
          <a:xfrm>
            <a:off x="2594956" y="2430433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E8FB331-7D2F-44A6-B6E5-D04776ABEE7E}"/>
              </a:ext>
            </a:extLst>
          </p:cNvPr>
          <p:cNvSpPr/>
          <p:nvPr/>
        </p:nvSpPr>
        <p:spPr>
          <a:xfrm>
            <a:off x="3622857" y="2336995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b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in-app recommendation</a:t>
            </a:r>
            <a:endParaRPr lang="en-US" sz="1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5CD81CF-EEC4-5E06-5573-0F89A70EA389}"/>
              </a:ext>
            </a:extLst>
          </p:cNvPr>
          <p:cNvSpPr/>
          <p:nvPr/>
        </p:nvSpPr>
        <p:spPr>
          <a:xfrm>
            <a:off x="9420723" y="226035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conversion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Outcome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D87968D-39F1-E65C-20C4-DA27B227D68F}"/>
              </a:ext>
            </a:extLst>
          </p:cNvPr>
          <p:cNvSpPr/>
          <p:nvPr/>
        </p:nvSpPr>
        <p:spPr>
          <a:xfrm>
            <a:off x="8055483" y="1591849"/>
            <a:ext cx="27432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49DF424-80E1-078D-7DE5-1CA4682D185E}"/>
              </a:ext>
            </a:extLst>
          </p:cNvPr>
          <p:cNvSpPr/>
          <p:nvPr/>
        </p:nvSpPr>
        <p:spPr>
          <a:xfrm>
            <a:off x="6786915" y="220866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&amp; criteria</a:t>
            </a:r>
            <a:endParaRPr lang="en-US" sz="16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36CD86F7-FB8B-9DF1-D725-854B1835D719}"/>
              </a:ext>
            </a:extLst>
          </p:cNvPr>
          <p:cNvSpPr/>
          <p:nvPr/>
        </p:nvSpPr>
        <p:spPr>
          <a:xfrm>
            <a:off x="571246" y="3724096"/>
            <a:ext cx="11104880" cy="2152298"/>
          </a:xfrm>
          <a:prstGeom prst="roundRect">
            <a:avLst>
              <a:gd name="adj" fmla="val 3145"/>
            </a:avLst>
          </a:prstGeom>
          <a:ln w="19050">
            <a:solidFill>
              <a:srgbClr val="C8FF3D"/>
            </a:solidFill>
            <a:prstDash val="dash"/>
          </a:ln>
        </p:spPr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F640FF-9911-2F18-C36E-AC4AFB469FF8}"/>
              </a:ext>
            </a:extLst>
          </p:cNvPr>
          <p:cNvSpPr txBox="1"/>
          <p:nvPr/>
        </p:nvSpPr>
        <p:spPr>
          <a:xfrm>
            <a:off x="571246" y="1157017"/>
            <a:ext cx="1698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spc="-3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SCOPE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54C63B-DC4A-8689-51E0-9747CEA59858}"/>
              </a:ext>
            </a:extLst>
          </p:cNvPr>
          <p:cNvSpPr txBox="1"/>
          <p:nvPr/>
        </p:nvSpPr>
        <p:spPr>
          <a:xfrm>
            <a:off x="515874" y="3688604"/>
            <a:ext cx="240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spc="-30" dirty="0">
                <a:solidFill>
                  <a:srgbClr val="FFFFFF"/>
                </a:solidFill>
                <a:latin typeface="Arial Black" pitchFamily="34" charset="0"/>
              </a:rPr>
              <a:t>OUT OF SCOPE</a:t>
            </a:r>
            <a:endParaRPr lang="en-IN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36554672-2D48-98F6-085F-444B8963C767}"/>
              </a:ext>
            </a:extLst>
          </p:cNvPr>
          <p:cNvSpPr/>
          <p:nvPr/>
        </p:nvSpPr>
        <p:spPr>
          <a:xfrm>
            <a:off x="782979" y="4973646"/>
            <a:ext cx="25801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Replacement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Existing-cross selling &amp;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channels remain</a:t>
            </a:r>
            <a:endParaRPr lang="en-US" sz="1600" b="1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C98F0BEC-9BD6-092C-A9BF-D17376A8CAA2}"/>
              </a:ext>
            </a:extLst>
          </p:cNvPr>
          <p:cNvSpPr/>
          <p:nvPr/>
        </p:nvSpPr>
        <p:spPr>
          <a:xfrm>
            <a:off x="3604895" y="4856987"/>
            <a:ext cx="290309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Process Changes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Eligibility, pricing, verification &amp; approval remain unchanged</a:t>
            </a:r>
            <a:endParaRPr lang="en-US" sz="1600" b="1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9447F3D2-B8C1-6696-FD9B-E0E6F6AE5465}"/>
              </a:ext>
            </a:extLst>
          </p:cNvPr>
          <p:cNvSpPr/>
          <p:nvPr/>
        </p:nvSpPr>
        <p:spPr>
          <a:xfrm>
            <a:off x="6684175" y="4838079"/>
            <a:ext cx="261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Technology Expansion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AI/ML engine or core banking redesign</a:t>
            </a:r>
            <a:endParaRPr lang="en-US" sz="16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2070305E-1CDE-138B-C6D5-FB5ADCA24B67}"/>
              </a:ext>
            </a:extLst>
          </p:cNvPr>
          <p:cNvSpPr/>
          <p:nvPr/>
        </p:nvSpPr>
        <p:spPr>
          <a:xfrm>
            <a:off x="9571863" y="4910302"/>
            <a:ext cx="21100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 Redesign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capabilities required to support recommendations</a:t>
            </a:r>
            <a:endParaRPr lang="en-US" sz="16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ABBBF89-D09E-CDF8-B2FA-1B5DF3DD7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0912" y="1206405"/>
            <a:ext cx="1997918" cy="112382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313B15C-90A8-609A-8E09-DEC8E9402E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91286" y="1181867"/>
            <a:ext cx="1172907" cy="117290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4870552-BC08-DE44-AD90-241F625E10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9998" y="1220459"/>
            <a:ext cx="1172907" cy="91244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53EFAE1-4ACC-24C7-9778-DA311A8FE3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6614" y="1147270"/>
            <a:ext cx="1897380" cy="993113"/>
          </a:xfrm>
          <a:prstGeom prst="rect">
            <a:avLst/>
          </a:prstGeom>
        </p:spPr>
      </p:pic>
      <p:sp>
        <p:nvSpPr>
          <p:cNvPr id="55" name="Shape 17">
            <a:extLst>
              <a:ext uri="{FF2B5EF4-FFF2-40B4-BE49-F238E27FC236}">
                <a16:creationId xmlns:a16="http://schemas.microsoft.com/office/drawing/2014/main" id="{843380B9-DFAF-E17D-D97D-D403B60F8F92}"/>
              </a:ext>
            </a:extLst>
          </p:cNvPr>
          <p:cNvSpPr/>
          <p:nvPr/>
        </p:nvSpPr>
        <p:spPr>
          <a:xfrm>
            <a:off x="3331408" y="2041829"/>
            <a:ext cx="0" cy="891459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37A8DB27-F42B-0A50-B0BC-4E8D88D9475C}"/>
              </a:ext>
            </a:extLst>
          </p:cNvPr>
          <p:cNvSpPr/>
          <p:nvPr/>
        </p:nvSpPr>
        <p:spPr>
          <a:xfrm>
            <a:off x="6344358" y="2045562"/>
            <a:ext cx="0" cy="891459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4192170F-BAF1-9A2D-BE6F-66D9B0AB9FC8}"/>
              </a:ext>
            </a:extLst>
          </p:cNvPr>
          <p:cNvSpPr/>
          <p:nvPr/>
        </p:nvSpPr>
        <p:spPr>
          <a:xfrm>
            <a:off x="9298940" y="2041829"/>
            <a:ext cx="0" cy="891459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7A45F7C-6B11-2275-9CCB-4F76D6611A7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3241" y="3764646"/>
            <a:ext cx="1395089" cy="109234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A3BC93F-83E4-FE22-C9E9-2605F5EBBB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76334" y="3764646"/>
            <a:ext cx="1220645" cy="109234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144A1F4-B907-6102-0170-772A6580F61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69722" y="3580816"/>
            <a:ext cx="1262359" cy="1262359"/>
          </a:xfrm>
          <a:prstGeom prst="rect">
            <a:avLst/>
          </a:prstGeom>
        </p:spPr>
      </p:pic>
      <p:sp>
        <p:nvSpPr>
          <p:cNvPr id="64" name="Shape 17">
            <a:extLst>
              <a:ext uri="{FF2B5EF4-FFF2-40B4-BE49-F238E27FC236}">
                <a16:creationId xmlns:a16="http://schemas.microsoft.com/office/drawing/2014/main" id="{B48DB1A8-7CBC-C9BA-91D9-6F29B39C2EAE}"/>
              </a:ext>
            </a:extLst>
          </p:cNvPr>
          <p:cNvSpPr/>
          <p:nvPr/>
        </p:nvSpPr>
        <p:spPr>
          <a:xfrm>
            <a:off x="3321248" y="4689016"/>
            <a:ext cx="0" cy="891459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07E9AFA2-BB45-67A1-46AD-E99A989A1A52}"/>
              </a:ext>
            </a:extLst>
          </p:cNvPr>
          <p:cNvSpPr/>
          <p:nvPr/>
        </p:nvSpPr>
        <p:spPr>
          <a:xfrm>
            <a:off x="6507988" y="4689015"/>
            <a:ext cx="0" cy="891459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3DCEEB99-01B7-007B-56C8-0C1F7D411AA3}"/>
              </a:ext>
            </a:extLst>
          </p:cNvPr>
          <p:cNvSpPr/>
          <p:nvPr/>
        </p:nvSpPr>
        <p:spPr>
          <a:xfrm>
            <a:off x="9298940" y="4689016"/>
            <a:ext cx="0" cy="891459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16E0A0A-C309-3C3A-653D-9BDFA613E3C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2290" y="3818909"/>
            <a:ext cx="1079467" cy="107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0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295E-37AA-363A-CB1F-F407C5E4D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4/gradient_bg.png">
            <a:extLst>
              <a:ext uri="{FF2B5EF4-FFF2-40B4-BE49-F238E27FC236}">
                <a16:creationId xmlns:a16="http://schemas.microsoft.com/office/drawing/2014/main" id="{7D292AEC-C775-1E0B-0ECD-FC7D3FC488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03CA6DD-979A-27E3-F08B-8BA72B1A0907}"/>
              </a:ext>
            </a:extLst>
          </p:cNvPr>
          <p:cNvSpPr/>
          <p:nvPr/>
        </p:nvSpPr>
        <p:spPr>
          <a:xfrm>
            <a:off x="548640" y="2046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CASE STUDY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77BF042-283B-2F74-4446-1A18623A1601}"/>
              </a:ext>
            </a:extLst>
          </p:cNvPr>
          <p:cNvSpPr/>
          <p:nvPr/>
        </p:nvSpPr>
        <p:spPr>
          <a:xfrm>
            <a:off x="548640" y="583629"/>
            <a:ext cx="4480560" cy="648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kern="0" spc="-30" dirty="0">
                <a:solidFill>
                  <a:srgbClr val="C8FF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Success</a:t>
            </a:r>
            <a:r>
              <a:rPr lang="en-US" sz="2200" kern="0" spc="-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Is Measured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31C0521-ACE9-39DE-3FFE-E4006BAADF42}"/>
              </a:ext>
            </a:extLst>
          </p:cNvPr>
          <p:cNvSpPr/>
          <p:nvPr/>
        </p:nvSpPr>
        <p:spPr>
          <a:xfrm>
            <a:off x="2594956" y="2430433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B4EA8DF-CBDD-E8BB-B143-D8C53E7B8CE2}"/>
              </a:ext>
            </a:extLst>
          </p:cNvPr>
          <p:cNvSpPr/>
          <p:nvPr/>
        </p:nvSpPr>
        <p:spPr>
          <a:xfrm>
            <a:off x="277788" y="1588654"/>
            <a:ext cx="2090902" cy="4253346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CEF6F88-2F32-DA9E-F415-468E45589200}"/>
              </a:ext>
            </a:extLst>
          </p:cNvPr>
          <p:cNvSpPr/>
          <p:nvPr/>
        </p:nvSpPr>
        <p:spPr>
          <a:xfrm>
            <a:off x="428715" y="2430433"/>
            <a:ext cx="1800607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09219118-FDE0-CF23-B5FF-1DD60B831104}"/>
              </a:ext>
            </a:extLst>
          </p:cNvPr>
          <p:cNvSpPr/>
          <p:nvPr/>
        </p:nvSpPr>
        <p:spPr>
          <a:xfrm>
            <a:off x="2690347" y="1588654"/>
            <a:ext cx="2056848" cy="4253346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806488B3-40C9-91C3-DECF-BCA7B4236D84}"/>
              </a:ext>
            </a:extLst>
          </p:cNvPr>
          <p:cNvSpPr/>
          <p:nvPr/>
        </p:nvSpPr>
        <p:spPr>
          <a:xfrm>
            <a:off x="5085731" y="1588654"/>
            <a:ext cx="2100037" cy="4253346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96B76FBB-BC37-AA5D-6451-A1154C8DF4F2}"/>
              </a:ext>
            </a:extLst>
          </p:cNvPr>
          <p:cNvSpPr/>
          <p:nvPr/>
        </p:nvSpPr>
        <p:spPr>
          <a:xfrm>
            <a:off x="7494846" y="1596242"/>
            <a:ext cx="1953953" cy="4253346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068FD981-5CD7-9742-62C0-5C48D9F1A68B}"/>
              </a:ext>
            </a:extLst>
          </p:cNvPr>
          <p:cNvSpPr/>
          <p:nvPr/>
        </p:nvSpPr>
        <p:spPr>
          <a:xfrm>
            <a:off x="9824338" y="1596242"/>
            <a:ext cx="2100037" cy="4253346"/>
          </a:xfrm>
          <a:prstGeom prst="roundRect">
            <a:avLst>
              <a:gd name="adj" fmla="val 5217"/>
            </a:avLst>
          </a:prstGeom>
          <a:solidFill>
            <a:srgbClr val="14102A"/>
          </a:solidFill>
          <a:ln/>
          <a:effectLst>
            <a:outerShdw blurRad="152400" dist="76200" dir="5400000" algn="bl" rotWithShape="0">
              <a:srgbClr val="0A0618">
                <a:alpha val="40000"/>
              </a:srgbClr>
            </a:outerShdw>
          </a:effectLst>
        </p:spPr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E4C7F8DD-001A-8A72-2331-BB63532503A3}"/>
              </a:ext>
            </a:extLst>
          </p:cNvPr>
          <p:cNvSpPr/>
          <p:nvPr/>
        </p:nvSpPr>
        <p:spPr>
          <a:xfrm>
            <a:off x="428715" y="2846360"/>
            <a:ext cx="1664605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Qualification Rate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identifying the intended digitally active customer?</a:t>
            </a:r>
            <a:endParaRPr lang="en-US" sz="1500" dirty="0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08CA98C0-F8C5-A53A-A8EF-FBC4007497C9}"/>
              </a:ext>
            </a:extLst>
          </p:cNvPr>
          <p:cNvSpPr/>
          <p:nvPr/>
        </p:nvSpPr>
        <p:spPr>
          <a:xfrm>
            <a:off x="2670714" y="2817659"/>
            <a:ext cx="1800607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Engagement Rate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customers interacting with the recommendations?</a:t>
            </a:r>
            <a:endParaRPr lang="en-US" sz="15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9817C648-794C-CEB5-9EBA-039C5F51B4AC}"/>
              </a:ext>
            </a:extLst>
          </p:cNvPr>
          <p:cNvSpPr/>
          <p:nvPr/>
        </p:nvSpPr>
        <p:spPr>
          <a:xfrm>
            <a:off x="5029200" y="2817659"/>
            <a:ext cx="200685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recommendations progressing towards the defined campaign outcome?</a:t>
            </a:r>
            <a:endParaRPr lang="en-US" sz="150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71A6E7A3-E7E5-D6D1-683D-FC085E8732A4}"/>
              </a:ext>
            </a:extLst>
          </p:cNvPr>
          <p:cNvSpPr/>
          <p:nvPr/>
        </p:nvSpPr>
        <p:spPr>
          <a:xfrm>
            <a:off x="7561307" y="2810071"/>
            <a:ext cx="1664605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Performance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digital recommendation strategy delivering business value?</a:t>
            </a:r>
            <a:endParaRPr lang="en-US" sz="150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596E96EE-C17C-BA68-C85F-F3F81222701B}"/>
              </a:ext>
            </a:extLst>
          </p:cNvPr>
          <p:cNvSpPr/>
          <p:nvPr/>
        </p:nvSpPr>
        <p:spPr>
          <a:xfrm>
            <a:off x="9883121" y="2810071"/>
            <a:ext cx="1800607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Campaign/Product Performance Trend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improved in future campaigns?</a:t>
            </a:r>
            <a:endParaRPr lang="en-US" sz="15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0614BBC6-D2A7-2A36-1FF5-594036371447}"/>
              </a:ext>
            </a:extLst>
          </p:cNvPr>
          <p:cNvSpPr/>
          <p:nvPr/>
        </p:nvSpPr>
        <p:spPr>
          <a:xfrm>
            <a:off x="277788" y="1747818"/>
            <a:ext cx="1855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8FF3D"/>
                </a:solidFill>
                <a:latin typeface="Arial Black" pitchFamily="34" charset="0"/>
              </a:rPr>
              <a:t>Digital Qualification</a:t>
            </a:r>
            <a:endParaRPr lang="en-US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D44268F9-94AA-BF55-B393-8CB8CD48A170}"/>
              </a:ext>
            </a:extLst>
          </p:cNvPr>
          <p:cNvSpPr/>
          <p:nvPr/>
        </p:nvSpPr>
        <p:spPr>
          <a:xfrm>
            <a:off x="2653344" y="1749427"/>
            <a:ext cx="1855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8FF3D"/>
                </a:solidFill>
                <a:latin typeface="Arial Black" pitchFamily="34" charset="0"/>
              </a:rPr>
              <a:t>Customer Engagement</a:t>
            </a:r>
            <a:endParaRPr lang="en-US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C5B0093F-F850-90C1-28C3-981D84140676}"/>
              </a:ext>
            </a:extLst>
          </p:cNvPr>
          <p:cNvSpPr/>
          <p:nvPr/>
        </p:nvSpPr>
        <p:spPr>
          <a:xfrm>
            <a:off x="5149272" y="1749427"/>
            <a:ext cx="18553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8FF3D"/>
                </a:solidFill>
                <a:latin typeface="Arial Black" pitchFamily="34" charset="0"/>
              </a:rPr>
              <a:t>Campaign Conversion</a:t>
            </a:r>
            <a:endParaRPr lang="en-US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6607DEE7-C87F-FCA9-EB14-FE67EB808577}"/>
              </a:ext>
            </a:extLst>
          </p:cNvPr>
          <p:cNvSpPr/>
          <p:nvPr/>
        </p:nvSpPr>
        <p:spPr>
          <a:xfrm>
            <a:off x="7508521" y="1749427"/>
            <a:ext cx="1953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8FF3D"/>
                </a:solidFill>
                <a:latin typeface="Arial Black" pitchFamily="34" charset="0"/>
              </a:rPr>
              <a:t>Campaign Effectiveness</a:t>
            </a:r>
            <a:endParaRPr lang="en-US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FAB05596-4F5A-E718-4E65-08E40B62019A}"/>
              </a:ext>
            </a:extLst>
          </p:cNvPr>
          <p:cNvSpPr/>
          <p:nvPr/>
        </p:nvSpPr>
        <p:spPr>
          <a:xfrm>
            <a:off x="9897380" y="1749427"/>
            <a:ext cx="1953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8FF3D"/>
                </a:solidFill>
                <a:latin typeface="Arial Black" pitchFamily="34" charset="0"/>
              </a:rPr>
              <a:t>Future Improvement</a:t>
            </a:r>
            <a:endParaRPr lang="en-US" dirty="0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4EC66990-7F2B-C07B-CF6A-6122246AFBC4}"/>
              </a:ext>
            </a:extLst>
          </p:cNvPr>
          <p:cNvSpPr/>
          <p:nvPr/>
        </p:nvSpPr>
        <p:spPr>
          <a:xfrm>
            <a:off x="2788920" y="2430433"/>
            <a:ext cx="1800607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54" name="Shape 17">
            <a:extLst>
              <a:ext uri="{FF2B5EF4-FFF2-40B4-BE49-F238E27FC236}">
                <a16:creationId xmlns:a16="http://schemas.microsoft.com/office/drawing/2014/main" id="{A895B62F-A580-BE75-492F-9473754EA63F}"/>
              </a:ext>
            </a:extLst>
          </p:cNvPr>
          <p:cNvSpPr/>
          <p:nvPr/>
        </p:nvSpPr>
        <p:spPr>
          <a:xfrm>
            <a:off x="5235445" y="2430433"/>
            <a:ext cx="1800607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90E29057-8604-01AC-0973-3B4401C9F592}"/>
              </a:ext>
            </a:extLst>
          </p:cNvPr>
          <p:cNvSpPr/>
          <p:nvPr/>
        </p:nvSpPr>
        <p:spPr>
          <a:xfrm>
            <a:off x="7585193" y="2430433"/>
            <a:ext cx="1800607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C72A63BF-9071-2E04-E292-265E3EEA3BA5}"/>
              </a:ext>
            </a:extLst>
          </p:cNvPr>
          <p:cNvSpPr/>
          <p:nvPr/>
        </p:nvSpPr>
        <p:spPr>
          <a:xfrm>
            <a:off x="9974052" y="2435166"/>
            <a:ext cx="1800607" cy="0"/>
          </a:xfrm>
          <a:prstGeom prst="line">
            <a:avLst/>
          </a:prstGeom>
          <a:noFill/>
          <a:ln w="38100">
            <a:solidFill>
              <a:srgbClr val="C8FF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4776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</TotalTime>
  <Words>627</Words>
  <Application>Microsoft Office PowerPoint</Application>
  <PresentationFormat>Widescreen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lavanya maruthasalam</cp:lastModifiedBy>
  <cp:revision>34</cp:revision>
  <dcterms:created xsi:type="dcterms:W3CDTF">2026-08-11T21:45:32Z</dcterms:created>
  <dcterms:modified xsi:type="dcterms:W3CDTF">2026-08-17T07:43:13Z</dcterms:modified>
</cp:coreProperties>
</file>